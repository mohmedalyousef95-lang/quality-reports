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4"/>
  </p:sldMasterIdLst>
  <p:notesMasterIdLst>
    <p:notesMasterId r:id="rId17"/>
  </p:notesMasterIdLst>
  <p:sldIdLst>
    <p:sldId id="256" r:id="rId5"/>
    <p:sldId id="638" r:id="rId6"/>
    <p:sldId id="639" r:id="rId7"/>
    <p:sldId id="640" r:id="rId8"/>
    <p:sldId id="641" r:id="rId9"/>
    <p:sldId id="642" r:id="rId10"/>
    <p:sldId id="645" r:id="rId11"/>
    <p:sldId id="643" r:id="rId12"/>
    <p:sldId id="644" r:id="rId13"/>
    <p:sldId id="646" r:id="rId14"/>
    <p:sldId id="647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C2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22" autoAdjust="0"/>
  </p:normalViewPr>
  <p:slideViewPr>
    <p:cSldViewPr>
      <p:cViewPr varScale="1">
        <p:scale>
          <a:sx n="74" d="100"/>
          <a:sy n="74" d="100"/>
        </p:scale>
        <p:origin x="72" y="4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DB2F6-42C4-4B4E-A799-25A41568BC7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11048-86EC-4B82-A6A7-669F0A80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2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BE38E-686A-4046-8781-42865FED7B78}" type="slidenum">
              <a:rPr lang="en-SA" smtClean="0"/>
              <a:t>12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193646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لملاحظات الوار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1">
            <a:extLst>
              <a:ext uri="{FF2B5EF4-FFF2-40B4-BE49-F238E27FC236}">
                <a16:creationId xmlns:a16="http://schemas.microsoft.com/office/drawing/2014/main" id="{AD603F21-F0EA-265C-FB42-7D705BD8054B}"/>
              </a:ext>
            </a:extLst>
          </p:cNvPr>
          <p:cNvSpPr/>
          <p:nvPr userDrawn="1"/>
        </p:nvSpPr>
        <p:spPr>
          <a:xfrm>
            <a:off x="194510" y="139989"/>
            <a:ext cx="11726779" cy="6251734"/>
          </a:xfrm>
          <a:prstGeom prst="rect">
            <a:avLst/>
          </a:pr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A28CFF-8CAC-04D6-0C8E-A2162361CF15}"/>
              </a:ext>
            </a:extLst>
          </p:cNvPr>
          <p:cNvSpPr/>
          <p:nvPr userDrawn="1"/>
        </p:nvSpPr>
        <p:spPr>
          <a:xfrm>
            <a:off x="11391900" y="6261100"/>
            <a:ext cx="431800" cy="596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204730-2B7D-CFC2-2539-6960BEC6A4CC}"/>
              </a:ext>
            </a:extLst>
          </p:cNvPr>
          <p:cNvCxnSpPr>
            <a:cxnSpLocks/>
          </p:cNvCxnSpPr>
          <p:nvPr userDrawn="1"/>
        </p:nvCxnSpPr>
        <p:spPr>
          <a:xfrm>
            <a:off x="954231" y="65087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BD17C54-C7C9-DF14-C3A8-48F0B6A075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722053"/>
          </a:xfr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2400" b="0" i="0" kern="1200" dirty="0">
                <a:solidFill>
                  <a:schemeClr val="tx1"/>
                </a:solidFill>
                <a:latin typeface="Tajawal Medium" pitchFamily="2" charset="-78"/>
                <a:ea typeface="+mj-ea"/>
                <a:cs typeface="Tajawal Medium" pitchFamily="2" charset="-78"/>
              </a:defRPr>
            </a:lvl1pPr>
          </a:lstStyle>
          <a:p>
            <a:r>
              <a:rPr lang="ar-SA"/>
              <a:t>الملاحظات الواردة</a:t>
            </a:r>
            <a:endParaRPr lang="en-S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1E55E-78E0-4B9F-0896-CCD17F59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896" y="6356350"/>
            <a:ext cx="4318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defRPr>
            </a:lvl1pPr>
          </a:lstStyle>
          <a:p>
            <a:pPr algn="ctr"/>
            <a:fld id="{DFD3E627-EB02-974A-A91D-FA669016C98C}" type="slidenum">
              <a:rPr lang="en-SA" smtClean="0"/>
              <a:pPr/>
              <a:t>‹#›</a:t>
            </a:fld>
            <a:endParaRPr lang="en-SA"/>
          </a:p>
        </p:txBody>
      </p:sp>
      <p:sp>
        <p:nvSpPr>
          <p:cNvPr id="189" name="Freeform 2">
            <a:extLst>
              <a:ext uri="{FF2B5EF4-FFF2-40B4-BE49-F238E27FC236}">
                <a16:creationId xmlns:a16="http://schemas.microsoft.com/office/drawing/2014/main" id="{901CB2A8-B13E-F78C-5A2F-E6A962EEA1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11576405" y="339763"/>
            <a:ext cx="382984" cy="797248"/>
          </a:xfrm>
          <a:custGeom>
            <a:avLst/>
            <a:gdLst>
              <a:gd name="connsiteX0" fmla="*/ 0 w 354811"/>
              <a:gd name="connsiteY0" fmla="*/ 0 h 738600"/>
              <a:gd name="connsiteX1" fmla="*/ 340692 w 354811"/>
              <a:gd name="connsiteY1" fmla="*/ 344625 h 738600"/>
              <a:gd name="connsiteX2" fmla="*/ 340871 w 354811"/>
              <a:gd name="connsiteY2" fmla="*/ 392754 h 738600"/>
              <a:gd name="connsiteX3" fmla="*/ 34069 w 354811"/>
              <a:gd name="connsiteY3" fmla="*/ 701822 h 738600"/>
              <a:gd name="connsiteX4" fmla="*/ 1201 w 354811"/>
              <a:gd name="connsiteY4" fmla="*/ 737604 h 738600"/>
              <a:gd name="connsiteX5" fmla="*/ 0 w 354811"/>
              <a:gd name="connsiteY5" fmla="*/ 738600 h 738600"/>
              <a:gd name="connsiteX6" fmla="*/ 0 w 354811"/>
              <a:gd name="connsiteY6" fmla="*/ 0 h 7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811" h="738600">
                <a:moveTo>
                  <a:pt x="0" y="0"/>
                </a:moveTo>
                <a:lnTo>
                  <a:pt x="340692" y="344625"/>
                </a:lnTo>
                <a:cubicBezTo>
                  <a:pt x="359308" y="363302"/>
                  <a:pt x="359666" y="374077"/>
                  <a:pt x="340871" y="392754"/>
                </a:cubicBezTo>
                <a:cubicBezTo>
                  <a:pt x="237947" y="495118"/>
                  <a:pt x="136456" y="599099"/>
                  <a:pt x="34069" y="701822"/>
                </a:cubicBezTo>
                <a:cubicBezTo>
                  <a:pt x="22793" y="713136"/>
                  <a:pt x="12500" y="725662"/>
                  <a:pt x="1201" y="737604"/>
                </a:cubicBez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DB4270-D32E-E0EA-42A7-D54883CDB0FD}"/>
              </a:ext>
            </a:extLst>
          </p:cNvPr>
          <p:cNvSpPr/>
          <p:nvPr userDrawn="1"/>
        </p:nvSpPr>
        <p:spPr>
          <a:xfrm>
            <a:off x="3657600" y="1676400"/>
            <a:ext cx="7974441" cy="2526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r" defTabSz="914400" rtl="1" eaLnBrk="1" latinLnBrk="0" hangingPunct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ar-EG" sz="2400" dirty="0">
                <a:solidFill>
                  <a:srgbClr val="0099A0">
                    <a:lumMod val="75000"/>
                  </a:srgbClr>
                </a:solidFill>
                <a:latin typeface="Tajawal Medium" pitchFamily="2" charset="-78"/>
                <a:ea typeface="+mj-ea"/>
                <a:cs typeface="Tajawal Medium" pitchFamily="2" charset="-78"/>
              </a:rPr>
              <a:t>اسم الزائر: </a:t>
            </a:r>
          </a:p>
          <a:p>
            <a:pPr marL="342900" indent="-342900" algn="r" defTabSz="914400" rtl="1" eaLnBrk="1" latinLnBrk="0" hangingPunct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ar-EG" sz="2400" dirty="0">
                <a:solidFill>
                  <a:srgbClr val="0099A0">
                    <a:lumMod val="75000"/>
                  </a:srgbClr>
                </a:solidFill>
                <a:latin typeface="Tajawal Medium" pitchFamily="2" charset="-78"/>
                <a:ea typeface="+mj-ea"/>
                <a:cs typeface="Tajawal Medium" pitchFamily="2" charset="-78"/>
              </a:rPr>
              <a:t>اسم المدرسة: </a:t>
            </a:r>
          </a:p>
          <a:p>
            <a:pPr marL="342900" indent="-342900" algn="r" defTabSz="914400" rtl="1" eaLnBrk="1" latinLnBrk="0" hangingPunct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ar-EG" sz="2400" dirty="0">
                <a:solidFill>
                  <a:srgbClr val="0099A0">
                    <a:lumMod val="75000"/>
                  </a:srgbClr>
                </a:solidFill>
                <a:latin typeface="Tajawal Medium" pitchFamily="2" charset="-78"/>
                <a:ea typeface="+mj-ea"/>
                <a:cs typeface="Tajawal Medium" pitchFamily="2" charset="-78"/>
              </a:rPr>
              <a:t>تاريخ الزيارة:</a:t>
            </a:r>
            <a:endParaRPr lang="en-US" sz="2400" dirty="0">
              <a:solidFill>
                <a:srgbClr val="0099A0">
                  <a:lumMod val="75000"/>
                </a:srgbClr>
              </a:solidFill>
              <a:latin typeface="Tajawal Medium" pitchFamily="2" charset="-78"/>
              <a:ea typeface="+mj-ea"/>
              <a:cs typeface="Tajawal Medium" pitchFamily="2" charset="-78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6202BD-B75A-4CCC-C545-7556214E41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0" y="2057400"/>
            <a:ext cx="3200400" cy="594145"/>
          </a:xfrm>
        </p:spPr>
        <p:txBody>
          <a:bodyPr>
            <a:noAutofit/>
          </a:bodyPr>
          <a:lstStyle>
            <a:lvl1pPr algn="ctr">
              <a:buNone/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DB6233C-ADE3-3F4F-7DEE-C87D140F0D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63145" y="2893861"/>
            <a:ext cx="3200400" cy="594145"/>
          </a:xfrm>
        </p:spPr>
        <p:txBody>
          <a:bodyPr>
            <a:noAutofit/>
          </a:bodyPr>
          <a:lstStyle>
            <a:lvl1pPr algn="ctr">
              <a:buNone/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573F81E-EE35-8867-F087-D0B0F5B5BA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63145" y="3608550"/>
            <a:ext cx="3200400" cy="594145"/>
          </a:xfrm>
        </p:spPr>
        <p:txBody>
          <a:bodyPr>
            <a:noAutofit/>
          </a:bodyPr>
          <a:lstStyle>
            <a:lvl1pPr algn="ctr">
              <a:buNone/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440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الملاحظات الوار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1">
            <a:extLst>
              <a:ext uri="{FF2B5EF4-FFF2-40B4-BE49-F238E27FC236}">
                <a16:creationId xmlns:a16="http://schemas.microsoft.com/office/drawing/2014/main" id="{AD603F21-F0EA-265C-FB42-7D705BD8054B}"/>
              </a:ext>
            </a:extLst>
          </p:cNvPr>
          <p:cNvSpPr/>
          <p:nvPr userDrawn="1"/>
        </p:nvSpPr>
        <p:spPr>
          <a:xfrm>
            <a:off x="194510" y="139989"/>
            <a:ext cx="11726779" cy="6251734"/>
          </a:xfrm>
          <a:prstGeom prst="rect">
            <a:avLst/>
          </a:pr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A28CFF-8CAC-04D6-0C8E-A2162361CF15}"/>
              </a:ext>
            </a:extLst>
          </p:cNvPr>
          <p:cNvSpPr/>
          <p:nvPr userDrawn="1"/>
        </p:nvSpPr>
        <p:spPr>
          <a:xfrm>
            <a:off x="11391900" y="6261100"/>
            <a:ext cx="431800" cy="596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204730-2B7D-CFC2-2539-6960BEC6A4CC}"/>
              </a:ext>
            </a:extLst>
          </p:cNvPr>
          <p:cNvCxnSpPr>
            <a:cxnSpLocks/>
          </p:cNvCxnSpPr>
          <p:nvPr userDrawn="1"/>
        </p:nvCxnSpPr>
        <p:spPr>
          <a:xfrm>
            <a:off x="954231" y="6508710"/>
            <a:ext cx="0" cy="319846"/>
          </a:xfrm>
          <a:prstGeom prst="line">
            <a:avLst/>
          </a:prstGeom>
          <a:ln>
            <a:solidFill>
              <a:srgbClr val="989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BD17C54-C7C9-DF14-C3A8-48F0B6A0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22053"/>
          </a:xfr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2400" b="0" i="0" kern="1200" dirty="0">
                <a:solidFill>
                  <a:schemeClr val="tx1"/>
                </a:solidFill>
                <a:latin typeface="Tajawal Medium" pitchFamily="2" charset="-78"/>
                <a:ea typeface="+mj-ea"/>
                <a:cs typeface="Tajawal Medium" pitchFamily="2" charset="-78"/>
              </a:defRPr>
            </a:lvl1pPr>
          </a:lstStyle>
          <a:p>
            <a:endParaRPr lang="en-S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1E55E-78E0-4B9F-0896-CCD17F59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896" y="6356350"/>
            <a:ext cx="4318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defRPr>
            </a:lvl1pPr>
          </a:lstStyle>
          <a:p>
            <a:pPr algn="ctr"/>
            <a:fld id="{DFD3E627-EB02-974A-A91D-FA669016C98C}" type="slidenum">
              <a:rPr lang="en-SA" smtClean="0"/>
              <a:pPr/>
              <a:t>‹#›</a:t>
            </a:fld>
            <a:endParaRPr lang="en-S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2C3510-6476-CA71-8D18-4B13EC1989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000" y="1676400"/>
            <a:ext cx="9829800" cy="4038600"/>
          </a:xfrm>
        </p:spPr>
        <p:txBody>
          <a:bodyPr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endParaRPr lang="en-US" dirty="0"/>
          </a:p>
        </p:txBody>
      </p:sp>
      <p:sp>
        <p:nvSpPr>
          <p:cNvPr id="3" name="L-Shape 2">
            <a:extLst>
              <a:ext uri="{FF2B5EF4-FFF2-40B4-BE49-F238E27FC236}">
                <a16:creationId xmlns:a16="http://schemas.microsoft.com/office/drawing/2014/main" id="{B14AB5C1-D8FB-B5D9-B2BA-8AD8B816CF50}"/>
              </a:ext>
            </a:extLst>
          </p:cNvPr>
          <p:cNvSpPr/>
          <p:nvPr userDrawn="1"/>
        </p:nvSpPr>
        <p:spPr>
          <a:xfrm rot="2738004">
            <a:off x="11465829" y="539927"/>
            <a:ext cx="346185" cy="333102"/>
          </a:xfrm>
          <a:prstGeom prst="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76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ل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A28CFF-8CAC-04D6-0C8E-A2162361CF15}"/>
              </a:ext>
            </a:extLst>
          </p:cNvPr>
          <p:cNvSpPr/>
          <p:nvPr userDrawn="1"/>
        </p:nvSpPr>
        <p:spPr>
          <a:xfrm>
            <a:off x="11391900" y="6261100"/>
            <a:ext cx="431800" cy="596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17C54-C7C9-DF14-C3A8-48F0B6A0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22053"/>
          </a:xfr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SA" sz="2400" b="0" i="0" kern="1200" dirty="0">
                <a:solidFill>
                  <a:schemeClr val="tx1"/>
                </a:solidFill>
                <a:latin typeface="Tajawal Medium" pitchFamily="2" charset="-78"/>
                <a:ea typeface="+mj-ea"/>
                <a:cs typeface="Tajawal Medium" pitchFamily="2" charset="-78"/>
              </a:defRPr>
            </a:lvl1pPr>
          </a:lstStyle>
          <a:p>
            <a:endParaRPr lang="en-S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1E55E-78E0-4B9F-0896-CCD17F59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900" y="6356350"/>
            <a:ext cx="43179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defRPr>
            </a:lvl1pPr>
          </a:lstStyle>
          <a:p>
            <a:pPr algn="ctr"/>
            <a:fld id="{DFD3E627-EB02-974A-A91D-FA669016C98C}" type="slidenum">
              <a:rPr lang="en-SA" smtClean="0"/>
              <a:pPr/>
              <a:t>‹#›</a:t>
            </a:fld>
            <a:endParaRPr lang="en-S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C512E0-02D9-80D7-B515-978F7A13616B}"/>
              </a:ext>
            </a:extLst>
          </p:cNvPr>
          <p:cNvSpPr txBox="1"/>
          <p:nvPr userDrawn="1"/>
        </p:nvSpPr>
        <p:spPr>
          <a:xfrm>
            <a:off x="954230" y="65573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C5D4F8D-04D9-4376-0C39-7B8E277DD17B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1462594" y="1265135"/>
            <a:ext cx="2703370" cy="2484193"/>
          </a:xfrm>
        </p:spPr>
        <p:txBody>
          <a:bodyPr anchor="ctr"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SA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07DB5FA-99C6-BBEC-0BB3-C66385631451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1462594" y="3879704"/>
            <a:ext cx="2703370" cy="2484193"/>
          </a:xfrm>
        </p:spPr>
        <p:txBody>
          <a:bodyPr anchor="ctr"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SA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6D27577-CE91-3083-8D0D-390571460E0F}"/>
              </a:ext>
            </a:extLst>
          </p:cNvPr>
          <p:cNvSpPr>
            <a:spLocks noGrp="1"/>
          </p:cNvSpPr>
          <p:nvPr>
            <p:ph type="pic" idx="25"/>
          </p:nvPr>
        </p:nvSpPr>
        <p:spPr>
          <a:xfrm>
            <a:off x="4776429" y="1252902"/>
            <a:ext cx="2703370" cy="2484193"/>
          </a:xfrm>
        </p:spPr>
        <p:txBody>
          <a:bodyPr anchor="ctr"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SA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943B91E7-C654-117B-D830-9E335184BB3C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4776429" y="3867471"/>
            <a:ext cx="2703370" cy="2484193"/>
          </a:xfrm>
        </p:spPr>
        <p:txBody>
          <a:bodyPr anchor="ctr"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SA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2361CD4-6A53-2EF7-1A4D-4BB9907C9AA5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8052164" y="1265135"/>
            <a:ext cx="2703370" cy="2484193"/>
          </a:xfrm>
        </p:spPr>
        <p:txBody>
          <a:bodyPr anchor="ctr"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S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0BBACB8-59EC-2EEC-E08C-325462D57B15}"/>
              </a:ext>
            </a:extLst>
          </p:cNvPr>
          <p:cNvSpPr>
            <a:spLocks noGrp="1"/>
          </p:cNvSpPr>
          <p:nvPr>
            <p:ph type="pic" idx="28"/>
          </p:nvPr>
        </p:nvSpPr>
        <p:spPr>
          <a:xfrm>
            <a:off x="8052164" y="3879704"/>
            <a:ext cx="2703370" cy="2484193"/>
          </a:xfrm>
        </p:spPr>
        <p:txBody>
          <a:bodyPr anchor="ctr"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SA" dirty="0"/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B14AB5C1-D8FB-B5D9-B2BA-8AD8B816CF50}"/>
              </a:ext>
            </a:extLst>
          </p:cNvPr>
          <p:cNvSpPr/>
          <p:nvPr userDrawn="1"/>
        </p:nvSpPr>
        <p:spPr>
          <a:xfrm rot="2738004">
            <a:off x="11528179" y="490731"/>
            <a:ext cx="346185" cy="333102"/>
          </a:xfrm>
          <a:prstGeom prst="corne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1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0DAA-2FA3-84B0-50B2-12AF905224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304" y="1051936"/>
            <a:ext cx="5598695" cy="2387600"/>
          </a:xfrm>
        </p:spPr>
        <p:txBody>
          <a:bodyPr anchor="b">
            <a:normAutofit/>
          </a:bodyPr>
          <a:lstStyle>
            <a:lvl1pPr algn="r" rtl="1">
              <a:defRPr sz="4000" b="1" i="0">
                <a:solidFill>
                  <a:srgbClr val="0099A1"/>
                </a:solidFill>
                <a:latin typeface="Tajawal" pitchFamily="2" charset="-78"/>
                <a:cs typeface="Tajawal" pitchFamily="2" charset="-78"/>
              </a:defRPr>
            </a:lvl1pPr>
          </a:lstStyle>
          <a:p>
            <a:r>
              <a:rPr lang="ar-SA" dirty="0"/>
              <a:t>أنقر هنا لإضافة العنوان الرئيسي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E3504-2EDF-D9AE-4BDB-FB033E8452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303" y="3581400"/>
            <a:ext cx="5598695" cy="1655762"/>
          </a:xfrm>
        </p:spPr>
        <p:txBody>
          <a:bodyPr/>
          <a:lstStyle>
            <a:lvl1pPr marL="0" indent="0" algn="r" rtl="1">
              <a:buNone/>
              <a:defRPr sz="2400" b="0" i="0">
                <a:solidFill>
                  <a:srgbClr val="0099A1"/>
                </a:solidFill>
                <a:latin typeface="Tajawal" pitchFamily="2" charset="-78"/>
                <a:cs typeface="Tajawal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أنقر هنا لإضافة العنوان الفرعي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7CFD4-1D90-8AB9-CCF9-BFE62763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0200-CBF2-7746-83D6-D2BCBBCBA451}" type="datetime1">
              <a:rPr lang="en-US" smtClean="0"/>
              <a:t>7/2/2026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2DB14-1639-7339-2049-97D5F7B7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F6D40-9D39-A3C6-D98B-FEC7F80C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EB02-974A-A91D-FA669016C9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8289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B96D-8155-478C-D56D-B379D019DF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894388"/>
            <a:ext cx="5257800" cy="1325563"/>
          </a:xfrm>
        </p:spPr>
        <p:txBody>
          <a:bodyPr>
            <a:normAutofit/>
          </a:bodyPr>
          <a:lstStyle>
            <a:lvl1pPr algn="r" rtl="1">
              <a:defRPr sz="3200" b="1" i="0">
                <a:latin typeface="Tajawal" pitchFamily="2" charset="-78"/>
                <a:cs typeface="Tajawal" pitchFamily="2" charset="-78"/>
              </a:defRPr>
            </a:lvl1pPr>
          </a:lstStyle>
          <a:p>
            <a:r>
              <a:rPr lang="ar-SA" dirty="0"/>
              <a:t>شكراً</a:t>
            </a:r>
            <a:endParaRPr lang="en-S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10A14-D601-B624-85DA-EE51935E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71A84-25C9-8145-9453-917D8B64392A}" type="datetime1">
              <a:rPr lang="en-US" smtClean="0"/>
              <a:t>7/2/2026</a:t>
            </a:fld>
            <a:endParaRPr lang="en-S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F7EBA-93B7-0A15-1AB0-7AC77D3B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D3EAD-B4D0-8F53-7AD2-43561121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E627-EB02-974A-A91D-FA669016C9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3246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A64360-3DFF-F5EE-2C6E-AF5A5494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1AAFF-EFAB-F5DE-5549-748EAA68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216B8-7F75-4BFD-6F51-F174E0AE2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40AAC-93E2-434E-955E-3A7B7F4464B1}" type="datetime1">
              <a:rPr lang="en-US" smtClean="0"/>
              <a:t>7/2/2026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CAE0E-10CE-CF6C-ADF0-0C08755D5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2F6DE-ED2A-87B5-A277-B84FE0DEF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3E627-EB02-974A-A91D-FA669016C9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9861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9" r:id="rId2"/>
    <p:sldLayoutId id="2147483666" r:id="rId3"/>
    <p:sldLayoutId id="2147483667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blue lines&#10;&#10;Description automatically generated">
            <a:extLst>
              <a:ext uri="{FF2B5EF4-FFF2-40B4-BE49-F238E27FC236}">
                <a16:creationId xmlns:a16="http://schemas.microsoft.com/office/drawing/2014/main" id="{3F23FB41-7C71-66C8-59B8-8208610EC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10709"/>
            <a:ext cx="11914099" cy="6751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E84341-6415-C71A-77E8-24F7215F7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0" y="280543"/>
            <a:ext cx="6444384" cy="2387600"/>
          </a:xfrm>
        </p:spPr>
        <p:txBody>
          <a:bodyPr>
            <a:normAutofit/>
          </a:bodyPr>
          <a:lstStyle/>
          <a:p>
            <a:pPr algn="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ar-SA" sz="3200" dirty="0"/>
              <a:t>إدارة المرافق</a:t>
            </a:r>
            <a:br>
              <a:rPr lang="ar-SA" sz="3200" dirty="0"/>
            </a:br>
            <a:r>
              <a:rPr lang="ar-SA" sz="3200" dirty="0"/>
              <a:t>-----------------------------</a:t>
            </a:r>
            <a:endParaRPr lang="en-SA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1C5A4-B63B-A22B-B8F5-2FAFC5B1C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1600" y="2562698"/>
            <a:ext cx="6444384" cy="1847341"/>
          </a:xfrm>
        </p:spPr>
        <p:txBody>
          <a:bodyPr/>
          <a:lstStyle/>
          <a:p>
            <a: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ar-SA" dirty="0"/>
              <a:t>تق</a:t>
            </a:r>
            <a:r>
              <a:rPr lang="ar-EG" dirty="0"/>
              <a:t>رير الجودة للزيارة الميدانية</a:t>
            </a:r>
          </a:p>
          <a:p>
            <a: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ar-EG" dirty="0"/>
              <a:t>(خطة الإستعداد للعام الدراسي)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66B63E-8803-E8B1-31D4-E95D8F2DCC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9152" y="106679"/>
            <a:ext cx="11940928" cy="6614161"/>
          </a:xfrm>
          <a:prstGeom prst="rect">
            <a:avLst/>
          </a:prstGeom>
          <a:noFill/>
          <a:ln w="292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099DE0-3AF5-A1D2-79E1-E01AEEAE77EA}"/>
              </a:ext>
            </a:extLst>
          </p:cNvPr>
          <p:cNvSpPr/>
          <p:nvPr/>
        </p:nvSpPr>
        <p:spPr>
          <a:xfrm>
            <a:off x="-1295400" y="3741179"/>
            <a:ext cx="8229600" cy="2526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r" defTabSz="914400" rtl="1" eaLnBrk="1" latinLnBrk="0" hangingPunct="1">
              <a:lnSpc>
                <a:spcPct val="2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ar-EG" sz="2400" dirty="0">
                <a:solidFill>
                  <a:srgbClr val="0099A1"/>
                </a:solidFill>
                <a:latin typeface="Tajawal" pitchFamily="2" charset="-78"/>
                <a:cs typeface="Tajawal" pitchFamily="2" charset="-78"/>
              </a:rPr>
              <a:t>اسم الزائر: </a:t>
            </a:r>
          </a:p>
          <a:p>
            <a:pPr marL="342900" indent="-342900" algn="r" defTabSz="914400" rtl="1" eaLnBrk="1" latinLnBrk="0" hangingPunct="1">
              <a:lnSpc>
                <a:spcPct val="2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ar-EG" sz="2400" dirty="0">
                <a:solidFill>
                  <a:srgbClr val="0099A1"/>
                </a:solidFill>
                <a:latin typeface="Tajawal" pitchFamily="2" charset="-78"/>
                <a:cs typeface="Tajawal" pitchFamily="2" charset="-78"/>
              </a:rPr>
              <a:t>اسم المدرسة: </a:t>
            </a:r>
          </a:p>
          <a:p>
            <a:pPr marL="342900" indent="-342900" algn="r" defTabSz="914400" rtl="1" eaLnBrk="1" latinLnBrk="0" hangingPunct="1">
              <a:lnSpc>
                <a:spcPct val="2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ar-EG" sz="2400" dirty="0">
                <a:solidFill>
                  <a:srgbClr val="0099A1"/>
                </a:solidFill>
                <a:latin typeface="Tajawal" pitchFamily="2" charset="-78"/>
                <a:cs typeface="Tajawal" pitchFamily="2" charset="-78"/>
              </a:rPr>
              <a:t>تاريخ الزيارة:</a:t>
            </a:r>
            <a:endParaRPr lang="en-US" sz="2400" dirty="0">
              <a:solidFill>
                <a:srgbClr val="0099A1"/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9926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72CF-CD21-7321-9EA8-176CA81D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أعمال التكييف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A56E4-6598-EF19-C3BE-2BDAFFA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2</a:t>
            </a:fld>
            <a:endParaRPr lang="en-SA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12CDCA-DD3B-FF0A-ED6D-D25DC1AFF6C4}"/>
              </a:ext>
            </a:extLst>
          </p:cNvPr>
          <p:cNvSpPr>
            <a:spLocks noGrp="1"/>
          </p:cNvSpPr>
          <p:nvPr>
            <p:ph type="pic" idx="2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0D63D28-0A0C-F14F-FB98-79303346DF46}"/>
              </a:ext>
            </a:extLst>
          </p:cNvPr>
          <p:cNvSpPr>
            <a:spLocks noGrp="1"/>
          </p:cNvSpPr>
          <p:nvPr>
            <p:ph type="pic" idx="24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28B367F-7484-8625-F904-67D0EF0FAF82}"/>
              </a:ext>
            </a:extLst>
          </p:cNvPr>
          <p:cNvSpPr>
            <a:spLocks noGrp="1"/>
          </p:cNvSpPr>
          <p:nvPr>
            <p:ph type="pic" idx="25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B239D8-CB6D-278C-7E04-337CF74FD3E1}"/>
              </a:ext>
            </a:extLst>
          </p:cNvPr>
          <p:cNvSpPr>
            <a:spLocks noGrp="1"/>
          </p:cNvSpPr>
          <p:nvPr>
            <p:ph type="pic" idx="26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C423778-CD61-ADF9-B2FC-5021E9FE00F8}"/>
              </a:ext>
            </a:extLst>
          </p:cNvPr>
          <p:cNvSpPr>
            <a:spLocks noGrp="1"/>
          </p:cNvSpPr>
          <p:nvPr>
            <p:ph type="pic" idx="27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C0084F7-6CE8-DB7A-481E-2E8F84820EDF}"/>
              </a:ext>
            </a:extLst>
          </p:cNvPr>
          <p:cNvSpPr>
            <a:spLocks noGrp="1"/>
          </p:cNvSpPr>
          <p:nvPr>
            <p:ph type="pic" idx="28"/>
          </p:nvPr>
        </p:nvSpPr>
        <p:spPr/>
      </p:sp>
    </p:spTree>
    <p:extLst>
      <p:ext uri="{BB962C8B-B14F-4D97-AF65-F5344CB8AC3E}">
        <p14:creationId xmlns:p14="http://schemas.microsoft.com/office/powerpoint/2010/main" val="279053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7E3D-5647-ECB2-B8F4-260642E1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FB9CF-07AE-6908-B7D5-01F58242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أعمال النظافة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2C9D36-9A11-9CFC-B863-62C8A6BF6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3</a:t>
            </a:fld>
            <a:endParaRPr lang="en-SA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22AAC6-E7B8-D37F-458C-B3DB3C174EB4}"/>
              </a:ext>
            </a:extLst>
          </p:cNvPr>
          <p:cNvSpPr>
            <a:spLocks noGrp="1"/>
          </p:cNvSpPr>
          <p:nvPr>
            <p:ph type="pic" idx="2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408EF-5573-E1F2-4A77-52316DCCA3D3}"/>
              </a:ext>
            </a:extLst>
          </p:cNvPr>
          <p:cNvSpPr>
            <a:spLocks noGrp="1"/>
          </p:cNvSpPr>
          <p:nvPr>
            <p:ph type="pic" idx="24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7405D8-C699-96E6-DC28-79741318CB8C}"/>
              </a:ext>
            </a:extLst>
          </p:cNvPr>
          <p:cNvSpPr>
            <a:spLocks noGrp="1"/>
          </p:cNvSpPr>
          <p:nvPr>
            <p:ph type="pic" idx="25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6A4D5F1-0004-BC9C-6E6C-7B5B5A076FCD}"/>
              </a:ext>
            </a:extLst>
          </p:cNvPr>
          <p:cNvSpPr>
            <a:spLocks noGrp="1"/>
          </p:cNvSpPr>
          <p:nvPr>
            <p:ph type="pic" idx="26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DCBE10-88A2-E781-7F7C-AE0E470F4164}"/>
              </a:ext>
            </a:extLst>
          </p:cNvPr>
          <p:cNvSpPr>
            <a:spLocks noGrp="1"/>
          </p:cNvSpPr>
          <p:nvPr>
            <p:ph type="pic" idx="27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6E0B21A-254E-B797-D2C8-B4016E3F9700}"/>
              </a:ext>
            </a:extLst>
          </p:cNvPr>
          <p:cNvSpPr>
            <a:spLocks noGrp="1"/>
          </p:cNvSpPr>
          <p:nvPr>
            <p:ph type="pic" idx="28"/>
          </p:nvPr>
        </p:nvSpPr>
        <p:spPr/>
      </p:sp>
    </p:spTree>
    <p:extLst>
      <p:ext uri="{BB962C8B-B14F-4D97-AF65-F5344CB8AC3E}">
        <p14:creationId xmlns:p14="http://schemas.microsoft.com/office/powerpoint/2010/main" val="281567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341C-9168-B33C-6F7B-5489A9B6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25D4-1891-8ADB-4B56-07F166E6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الأمن والسلامة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D76DD3-F92D-9F5E-7D65-5FE0FD68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4</a:t>
            </a:fld>
            <a:endParaRPr lang="en-SA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01705B-6D3B-CF89-5B77-30815B2984B9}"/>
              </a:ext>
            </a:extLst>
          </p:cNvPr>
          <p:cNvSpPr>
            <a:spLocks noGrp="1"/>
          </p:cNvSpPr>
          <p:nvPr>
            <p:ph type="pic" idx="2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E98881-32D2-1F07-A6A8-9AABE39443E2}"/>
              </a:ext>
            </a:extLst>
          </p:cNvPr>
          <p:cNvSpPr>
            <a:spLocks noGrp="1"/>
          </p:cNvSpPr>
          <p:nvPr>
            <p:ph type="pic" idx="24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6C62565-70F3-37D1-8D91-0B5E7FA362BE}"/>
              </a:ext>
            </a:extLst>
          </p:cNvPr>
          <p:cNvSpPr>
            <a:spLocks noGrp="1"/>
          </p:cNvSpPr>
          <p:nvPr>
            <p:ph type="pic" idx="25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D8FB7CF-C1BB-731C-4F87-874969226EFA}"/>
              </a:ext>
            </a:extLst>
          </p:cNvPr>
          <p:cNvSpPr>
            <a:spLocks noGrp="1"/>
          </p:cNvSpPr>
          <p:nvPr>
            <p:ph type="pic" idx="26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683B29B-004F-641E-30DE-7B1207A37085}"/>
              </a:ext>
            </a:extLst>
          </p:cNvPr>
          <p:cNvSpPr>
            <a:spLocks noGrp="1"/>
          </p:cNvSpPr>
          <p:nvPr>
            <p:ph type="pic" idx="27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8CC2C7-495E-DD23-A87B-AF264609A3F0}"/>
              </a:ext>
            </a:extLst>
          </p:cNvPr>
          <p:cNvSpPr>
            <a:spLocks noGrp="1"/>
          </p:cNvSpPr>
          <p:nvPr>
            <p:ph type="pic" idx="28"/>
          </p:nvPr>
        </p:nvSpPr>
        <p:spPr/>
      </p:sp>
    </p:spTree>
    <p:extLst>
      <p:ext uri="{BB962C8B-B14F-4D97-AF65-F5344CB8AC3E}">
        <p14:creationId xmlns:p14="http://schemas.microsoft.com/office/powerpoint/2010/main" val="2945606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D418-3B59-F8D7-F562-C220DACF1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79D3-849C-21F5-7EC0-A61BBC85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أعمال الصيانة العامة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1E3B7-F4F4-C72F-6F0F-F273D557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5</a:t>
            </a:fld>
            <a:endParaRPr lang="en-SA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231C8F-B773-68D5-600C-313AE01CEC93}"/>
              </a:ext>
            </a:extLst>
          </p:cNvPr>
          <p:cNvSpPr>
            <a:spLocks noGrp="1"/>
          </p:cNvSpPr>
          <p:nvPr>
            <p:ph type="pic" idx="2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44C1DD9-823C-B69C-EEB2-264CEDE85536}"/>
              </a:ext>
            </a:extLst>
          </p:cNvPr>
          <p:cNvSpPr>
            <a:spLocks noGrp="1"/>
          </p:cNvSpPr>
          <p:nvPr>
            <p:ph type="pic" idx="24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C83F4B-CFC8-47D2-2FD2-52CF9611F5A2}"/>
              </a:ext>
            </a:extLst>
          </p:cNvPr>
          <p:cNvSpPr>
            <a:spLocks noGrp="1"/>
          </p:cNvSpPr>
          <p:nvPr>
            <p:ph type="pic" idx="25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494BFC4-4FB7-D888-FF14-6ED5C11A9757}"/>
              </a:ext>
            </a:extLst>
          </p:cNvPr>
          <p:cNvSpPr>
            <a:spLocks noGrp="1"/>
          </p:cNvSpPr>
          <p:nvPr>
            <p:ph type="pic" idx="26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F9F8DE9-CDC3-2203-4ADA-9A3A0A7DB644}"/>
              </a:ext>
            </a:extLst>
          </p:cNvPr>
          <p:cNvSpPr>
            <a:spLocks noGrp="1"/>
          </p:cNvSpPr>
          <p:nvPr>
            <p:ph type="pic" idx="27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F7FD27-27C4-56F4-CC16-A7C2D3BA6007}"/>
              </a:ext>
            </a:extLst>
          </p:cNvPr>
          <p:cNvSpPr>
            <a:spLocks noGrp="1"/>
          </p:cNvSpPr>
          <p:nvPr>
            <p:ph type="pic" idx="28"/>
          </p:nvPr>
        </p:nvSpPr>
        <p:spPr/>
      </p:sp>
    </p:spTree>
    <p:extLst>
      <p:ext uri="{BB962C8B-B14F-4D97-AF65-F5344CB8AC3E}">
        <p14:creationId xmlns:p14="http://schemas.microsoft.com/office/powerpoint/2010/main" val="400045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FC6C-A628-E8FE-68DF-1B317491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أعمال التكييف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5AE398-8960-FE17-6F7F-34110F90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6</a:t>
            </a:fld>
            <a:endParaRPr lang="en-SA"/>
          </a:p>
        </p:txBody>
      </p:sp>
      <p:graphicFrame>
        <p:nvGraphicFramePr>
          <p:cNvPr id="5" name="جدول 5">
            <a:extLst>
              <a:ext uri="{FF2B5EF4-FFF2-40B4-BE49-F238E27FC236}">
                <a16:creationId xmlns:a16="http://schemas.microsoft.com/office/drawing/2014/main" id="{103EC766-5C55-F8CF-5E64-144990501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530809"/>
              </p:ext>
            </p:extLst>
          </p:nvPr>
        </p:nvGraphicFramePr>
        <p:xfrm>
          <a:off x="3908300" y="1087178"/>
          <a:ext cx="7412452" cy="3912606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706226">
                  <a:extLst>
                    <a:ext uri="{9D8B030D-6E8A-4147-A177-3AD203B41FA5}">
                      <a16:colId xmlns:a16="http://schemas.microsoft.com/office/drawing/2014/main" val="3230104016"/>
                    </a:ext>
                  </a:extLst>
                </a:gridCol>
                <a:gridCol w="3706226">
                  <a:extLst>
                    <a:ext uri="{9D8B030D-6E8A-4147-A177-3AD203B41FA5}">
                      <a16:colId xmlns:a16="http://schemas.microsoft.com/office/drawing/2014/main" val="2126610350"/>
                    </a:ext>
                  </a:extLst>
                </a:gridCol>
              </a:tblGrid>
              <a:tr h="745155"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الأعمال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الملاحظات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34515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صيانة الفلتر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4777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تعبئة الفريون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6515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جودة التبريد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68980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577109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86456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6304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199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16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40A7-2CAF-4D9D-7EB9-6A56F5AC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E3B3-D542-9EF5-F252-729A67D9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صيانة دورات المياه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ACF8C-B037-F909-7A5D-FB041CE7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7</a:t>
            </a:fld>
            <a:endParaRPr lang="en-SA"/>
          </a:p>
        </p:txBody>
      </p:sp>
      <p:graphicFrame>
        <p:nvGraphicFramePr>
          <p:cNvPr id="5" name="جدول 5">
            <a:extLst>
              <a:ext uri="{FF2B5EF4-FFF2-40B4-BE49-F238E27FC236}">
                <a16:creationId xmlns:a16="http://schemas.microsoft.com/office/drawing/2014/main" id="{290DB69D-B794-B2F9-DCBF-2EC052E74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391156"/>
              </p:ext>
            </p:extLst>
          </p:nvPr>
        </p:nvGraphicFramePr>
        <p:xfrm>
          <a:off x="3942936" y="1143000"/>
          <a:ext cx="7412452" cy="481759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706226">
                  <a:extLst>
                    <a:ext uri="{9D8B030D-6E8A-4147-A177-3AD203B41FA5}">
                      <a16:colId xmlns:a16="http://schemas.microsoft.com/office/drawing/2014/main" val="3230104016"/>
                    </a:ext>
                  </a:extLst>
                </a:gridCol>
                <a:gridCol w="3706226">
                  <a:extLst>
                    <a:ext uri="{9D8B030D-6E8A-4147-A177-3AD203B41FA5}">
                      <a16:colId xmlns:a16="http://schemas.microsoft.com/office/drawing/2014/main" val="2126610350"/>
                    </a:ext>
                  </a:extLst>
                </a:gridCol>
              </a:tblGrid>
              <a:tr h="745155"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الأعمال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الملاحظات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34515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مراوح الشفط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4777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السخانات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6515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المرايات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68980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أبواب دورات المياه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577109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محابس دورات المياه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86456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الأسقف المستعارة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6304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النوافذ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199052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المراحيض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23308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السيفونات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296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3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FFC7-2A7C-2993-AE4D-9CD4F2B4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C9C9-47C7-ED71-8D7B-4826FABF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أعمال النظافة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607A0-A398-1E81-ED8D-1E4F8FFA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8</a:t>
            </a:fld>
            <a:endParaRPr lang="en-SA"/>
          </a:p>
        </p:txBody>
      </p:sp>
      <p:graphicFrame>
        <p:nvGraphicFramePr>
          <p:cNvPr id="5" name="جدول 5">
            <a:extLst>
              <a:ext uri="{FF2B5EF4-FFF2-40B4-BE49-F238E27FC236}">
                <a16:creationId xmlns:a16="http://schemas.microsoft.com/office/drawing/2014/main" id="{D4D25E23-16B0-221D-9AA5-E346AC581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272815"/>
              </p:ext>
            </p:extLst>
          </p:nvPr>
        </p:nvGraphicFramePr>
        <p:xfrm>
          <a:off x="3963718" y="1101033"/>
          <a:ext cx="7412452" cy="4365099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706226">
                  <a:extLst>
                    <a:ext uri="{9D8B030D-6E8A-4147-A177-3AD203B41FA5}">
                      <a16:colId xmlns:a16="http://schemas.microsoft.com/office/drawing/2014/main" val="3230104016"/>
                    </a:ext>
                  </a:extLst>
                </a:gridCol>
                <a:gridCol w="3706226">
                  <a:extLst>
                    <a:ext uri="{9D8B030D-6E8A-4147-A177-3AD203B41FA5}">
                      <a16:colId xmlns:a16="http://schemas.microsoft.com/office/drawing/2014/main" val="2126610350"/>
                    </a:ext>
                  </a:extLst>
                </a:gridCol>
              </a:tblGrid>
              <a:tr h="745155"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الأعمال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الملاحظات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34515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نظافة دورات المياه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4777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تواجد عمال النظافة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6515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رائحة دورات المياه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68980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توفر مواد النظافة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577109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نظافة الفصول والساحات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86456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نظافة المظلات والنوافذ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6304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نظافة البرادات وفلاترها 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86982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نظافة الخزانات وتوفر المياه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199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03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EDFBD-0CAB-8270-2DF7-42264D63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0BDE-97C1-2361-6406-DCE2C7F0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الامن والسلامة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F8A9F-90B1-80B2-5055-C952B7EF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9</a:t>
            </a:fld>
            <a:endParaRPr lang="en-SA"/>
          </a:p>
        </p:txBody>
      </p:sp>
      <p:graphicFrame>
        <p:nvGraphicFramePr>
          <p:cNvPr id="5" name="جدول 5">
            <a:extLst>
              <a:ext uri="{FF2B5EF4-FFF2-40B4-BE49-F238E27FC236}">
                <a16:creationId xmlns:a16="http://schemas.microsoft.com/office/drawing/2014/main" id="{986584DC-FE55-BF8A-EC24-430520187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236245"/>
              </p:ext>
            </p:extLst>
          </p:nvPr>
        </p:nvGraphicFramePr>
        <p:xfrm>
          <a:off x="3886199" y="1421394"/>
          <a:ext cx="7412452" cy="4365099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706226">
                  <a:extLst>
                    <a:ext uri="{9D8B030D-6E8A-4147-A177-3AD203B41FA5}">
                      <a16:colId xmlns:a16="http://schemas.microsoft.com/office/drawing/2014/main" val="3230104016"/>
                    </a:ext>
                  </a:extLst>
                </a:gridCol>
                <a:gridCol w="3706226">
                  <a:extLst>
                    <a:ext uri="{9D8B030D-6E8A-4147-A177-3AD203B41FA5}">
                      <a16:colId xmlns:a16="http://schemas.microsoft.com/office/drawing/2014/main" val="2126610350"/>
                    </a:ext>
                  </a:extLst>
                </a:gridCol>
              </a:tblGrid>
              <a:tr h="745155"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الأعمال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الملاحظات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34515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طفايات الحريق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4777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صناديق الحريق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6515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التمديدات العشوائية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68980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الحواف الحادة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577109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جهاز الانذار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86456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المضخات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6304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مخارج الطوارئ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199052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لوحات مخارج الطوارئ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37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511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B915-EBC9-0E40-E8FE-D7DACCE4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85BC-876B-F2FD-3525-BCE821AD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الصيانة العامة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DD066E-85A5-98AB-9C11-DA3C0809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10</a:t>
            </a:fld>
            <a:endParaRPr lang="en-SA"/>
          </a:p>
        </p:txBody>
      </p:sp>
      <p:graphicFrame>
        <p:nvGraphicFramePr>
          <p:cNvPr id="5" name="جدول 5">
            <a:extLst>
              <a:ext uri="{FF2B5EF4-FFF2-40B4-BE49-F238E27FC236}">
                <a16:creationId xmlns:a16="http://schemas.microsoft.com/office/drawing/2014/main" id="{3A38BCB2-396A-35C4-645C-C922CA8ED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663716"/>
              </p:ext>
            </p:extLst>
          </p:nvPr>
        </p:nvGraphicFramePr>
        <p:xfrm>
          <a:off x="3942936" y="1143000"/>
          <a:ext cx="7412452" cy="481759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706226">
                  <a:extLst>
                    <a:ext uri="{9D8B030D-6E8A-4147-A177-3AD203B41FA5}">
                      <a16:colId xmlns:a16="http://schemas.microsoft.com/office/drawing/2014/main" val="3230104016"/>
                    </a:ext>
                  </a:extLst>
                </a:gridCol>
                <a:gridCol w="3706226">
                  <a:extLst>
                    <a:ext uri="{9D8B030D-6E8A-4147-A177-3AD203B41FA5}">
                      <a16:colId xmlns:a16="http://schemas.microsoft.com/office/drawing/2014/main" val="2126610350"/>
                    </a:ext>
                  </a:extLst>
                </a:gridCol>
              </a:tblGrid>
              <a:tr h="745155"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الأعمال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الملاحظات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34515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الأفياش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4777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الإنارة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6515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الدفاشات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68980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مقابض الأبواب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577109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إطارات الأبواب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86456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الدهانات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6304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البرادات 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199052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الأرضيات والبلاط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23308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الوزرات ( النعلة)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296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53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4B90-E0FD-C3A5-9C3D-DE0AF0D2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1BC5-C4A2-1192-85B2-949CE930B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b="1" dirty="0">
                <a:latin typeface="Tajawal" panose="00000500000000000000" pitchFamily="2" charset="-78"/>
                <a:cs typeface="Tajawal" panose="00000500000000000000" pitchFamily="2" charset="-78"/>
              </a:rPr>
              <a:t>أخرى</a:t>
            </a:r>
            <a:endParaRPr lang="en-US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D8155-DAC3-D281-2AC5-6778C2E1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D3E627-EB02-974A-A91D-FA669016C98C}" type="slidenum">
              <a:rPr lang="en-SA" smtClean="0"/>
              <a:pPr algn="ctr"/>
              <a:t>11</a:t>
            </a:fld>
            <a:endParaRPr lang="en-SA"/>
          </a:p>
        </p:txBody>
      </p:sp>
      <p:graphicFrame>
        <p:nvGraphicFramePr>
          <p:cNvPr id="5" name="جدول 5">
            <a:extLst>
              <a:ext uri="{FF2B5EF4-FFF2-40B4-BE49-F238E27FC236}">
                <a16:creationId xmlns:a16="http://schemas.microsoft.com/office/drawing/2014/main" id="{7D91BA54-C08E-B686-8543-7185525D4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107143"/>
              </p:ext>
            </p:extLst>
          </p:nvPr>
        </p:nvGraphicFramePr>
        <p:xfrm>
          <a:off x="3942936" y="1143000"/>
          <a:ext cx="7412452" cy="481759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706226">
                  <a:extLst>
                    <a:ext uri="{9D8B030D-6E8A-4147-A177-3AD203B41FA5}">
                      <a16:colId xmlns:a16="http://schemas.microsoft.com/office/drawing/2014/main" val="3230104016"/>
                    </a:ext>
                  </a:extLst>
                </a:gridCol>
                <a:gridCol w="3706226">
                  <a:extLst>
                    <a:ext uri="{9D8B030D-6E8A-4147-A177-3AD203B41FA5}">
                      <a16:colId xmlns:a16="http://schemas.microsoft.com/office/drawing/2014/main" val="2126610350"/>
                    </a:ext>
                  </a:extLst>
                </a:gridCol>
              </a:tblGrid>
              <a:tr h="745155"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الأعمال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b="1" dirty="0">
                          <a:solidFill>
                            <a:schemeClr val="bg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الملاحظات</a:t>
                      </a:r>
                      <a:endParaRPr lang="ar-SA" sz="1600" b="1" dirty="0">
                        <a:solidFill>
                          <a:schemeClr val="bg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34515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هل المظلات بحالة جيدة؟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24777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هل يوجد أي استحداثات بالمبنى؟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065151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هل يوجد هبوطات؟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9804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هل البواب متواجد؟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577109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ar-E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هل غرف الكهرباء مغلقة؟ </a:t>
                      </a: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57F"/>
                          </a:solidFill>
                          <a:effectLst/>
                          <a:uLnTx/>
                          <a:uFillTx/>
                          <a:latin typeface="Tajawal" panose="00000500000000000000" pitchFamily="2" charset="-78"/>
                          <a:ea typeface="+mn-ea"/>
                          <a:cs typeface="Tajawal" panose="00000500000000000000" pitchFamily="2" charset="-78"/>
                        </a:rPr>
                        <a:t>...........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86456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EG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6304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199052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233088"/>
                  </a:ext>
                </a:extLst>
              </a:tr>
              <a:tr h="45249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57F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296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386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lines&#10;&#10;Description automatically generated">
            <a:extLst>
              <a:ext uri="{FF2B5EF4-FFF2-40B4-BE49-F238E27FC236}">
                <a16:creationId xmlns:a16="http://schemas.microsoft.com/office/drawing/2014/main" id="{FD68FA72-FE62-5E45-6E2F-030AE06267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2" y="0"/>
            <a:ext cx="12147177" cy="68833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4CA168-86DD-4496-F227-957F867F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311483"/>
            <a:ext cx="5256213" cy="1325563"/>
          </a:xfrm>
        </p:spPr>
        <p:txBody>
          <a:bodyPr>
            <a:normAutofit/>
          </a:bodyPr>
          <a:lstStyle/>
          <a:p>
            <a: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ar-SA" sz="3600"/>
              <a:t>شكرًا لكم</a:t>
            </a:r>
            <a:endParaRPr lang="en-SA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AB89F-1923-75D9-0FAD-B33F283240DD}"/>
              </a:ext>
            </a:extLst>
          </p:cNvPr>
          <p:cNvSpPr>
            <a:spLocks/>
          </p:cNvSpPr>
          <p:nvPr/>
        </p:nvSpPr>
        <p:spPr>
          <a:xfrm>
            <a:off x="129152" y="106679"/>
            <a:ext cx="11940928" cy="6614161"/>
          </a:xfrm>
          <a:prstGeom prst="rect">
            <a:avLst/>
          </a:prstGeom>
          <a:noFill/>
          <a:ln w="292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10915-A4FB-4C30-E86D-E270A4FE950F}"/>
              </a:ext>
            </a:extLst>
          </p:cNvPr>
          <p:cNvSpPr txBox="1"/>
          <p:nvPr/>
        </p:nvSpPr>
        <p:spPr>
          <a:xfrm>
            <a:off x="954230" y="6557332"/>
            <a:ext cx="24017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جميع الحق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و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ق محفوظة لـ </a:t>
            </a:r>
            <a:r>
              <a:rPr lang="ar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شركة تطوير للمباني </a:t>
            </a:r>
            <a:r>
              <a:rPr lang="en-SA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© 202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latin typeface="Tajawal" pitchFamily="2" charset="-78"/>
                <a:cs typeface="Tajawal" pitchFamily="2" charset="-78"/>
              </a:rPr>
              <a:t>5</a:t>
            </a:r>
            <a:endParaRPr lang="en-SA" sz="800" b="0" i="0" dirty="0">
              <a:solidFill>
                <a:schemeClr val="bg1">
                  <a:lumMod val="65000"/>
                </a:schemeClr>
              </a:solidFill>
              <a:latin typeface="Tajawal" pitchFamily="2" charset="-78"/>
              <a:cs typeface="Tajawal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614003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757F"/>
      </a:dk1>
      <a:lt1>
        <a:srgbClr val="FFFFFF"/>
      </a:lt1>
      <a:dk2>
        <a:srgbClr val="F2F3F3"/>
      </a:dk2>
      <a:lt2>
        <a:srgbClr val="E8E8E8"/>
      </a:lt2>
      <a:accent1>
        <a:srgbClr val="0099A0"/>
      </a:accent1>
      <a:accent2>
        <a:srgbClr val="6AB7BC"/>
      </a:accent2>
      <a:accent3>
        <a:srgbClr val="FFC800"/>
      </a:accent3>
      <a:accent4>
        <a:srgbClr val="969696"/>
      </a:accent4>
      <a:accent5>
        <a:srgbClr val="C9C9C9"/>
      </a:accent5>
      <a:accent6>
        <a:srgbClr val="42BF90"/>
      </a:accent6>
      <a:hlink>
        <a:srgbClr val="75CFA9"/>
      </a:hlink>
      <a:folHlink>
        <a:srgbClr val="A7DFC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  <a:alpha val="26000"/>
          </a:schemeClr>
        </a:solidFill>
        <a:ln>
          <a:noFill/>
        </a:ln>
      </a:spPr>
      <a:bodyPr rtlCol="0" anchor="ctr"/>
      <a:lstStyle>
        <a:defPPr marL="0" algn="ctr" defTabSz="914400" rtl="1" eaLnBrk="1" latinLnBrk="0" hangingPunct="1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b343e4-5ad4-4abd-8c87-5894e3b3a5c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50436EFDB70E479AC6305D9FE4A597" ma:contentTypeVersion="5" ma:contentTypeDescription="Create a new document." ma:contentTypeScope="" ma:versionID="aebf29bce2f929bced6d91e54d0b29c9">
  <xsd:schema xmlns:xsd="http://www.w3.org/2001/XMLSchema" xmlns:xs="http://www.w3.org/2001/XMLSchema" xmlns:p="http://schemas.microsoft.com/office/2006/metadata/properties" xmlns:ns3="acb343e4-5ad4-4abd-8c87-5894e3b3a5c0" targetNamespace="http://schemas.microsoft.com/office/2006/metadata/properties" ma:root="true" ma:fieldsID="bccf7451165c1b2293f40de1b872393d" ns3:_="">
    <xsd:import namespace="acb343e4-5ad4-4abd-8c87-5894e3b3a5c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b343e4-5ad4-4abd-8c87-5894e3b3a5c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BE65F-F5F6-48F5-8086-D80E0EB55D36}">
  <ds:schemaRefs>
    <ds:schemaRef ds:uri="acb343e4-5ad4-4abd-8c87-5894e3b3a5c0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05436C-1C43-43BF-A3D4-D5C3C1D651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A1D260-1E1A-430D-ABC8-F992283F7E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b343e4-5ad4-4abd-8c87-5894e3b3a5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7473</TotalTime>
  <Words>223</Words>
  <Application>Microsoft Office PowerPoint</Application>
  <PresentationFormat>Widescreen</PresentationFormat>
  <Paragraphs>123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Tajawal</vt:lpstr>
      <vt:lpstr>Aptos Display</vt:lpstr>
      <vt:lpstr>Wingdings</vt:lpstr>
      <vt:lpstr>Tajawal Medium</vt:lpstr>
      <vt:lpstr>Aptos</vt:lpstr>
      <vt:lpstr>Arial</vt:lpstr>
      <vt:lpstr>1_Office Theme</vt:lpstr>
      <vt:lpstr>إدارة المرافق -----------------------------</vt:lpstr>
      <vt:lpstr>أعمال التكييف</vt:lpstr>
      <vt:lpstr>أعمال النظافة</vt:lpstr>
      <vt:lpstr>الأمن والسلامة</vt:lpstr>
      <vt:lpstr>أعمال الصيانة العامة</vt:lpstr>
      <vt:lpstr>أعمال التكييف</vt:lpstr>
      <vt:lpstr>صيانة دورات المياه</vt:lpstr>
      <vt:lpstr>أعمال النظافة</vt:lpstr>
      <vt:lpstr>الامن والسلامة</vt:lpstr>
      <vt:lpstr>الصيانة العامة</vt:lpstr>
      <vt:lpstr>أخرى</vt:lpstr>
      <vt:lpstr>شكرًا لكم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ملاحظات مدارس الرياض.pdf</dc:title>
  <dc:creator>sahara-215</dc:creator>
  <cp:lastModifiedBy>Bushra Alsanad</cp:lastModifiedBy>
  <cp:revision>259</cp:revision>
  <dcterms:created xsi:type="dcterms:W3CDTF">2006-08-16T00:00:00Z</dcterms:created>
  <dcterms:modified xsi:type="dcterms:W3CDTF">2026-07-02T04:19:05Z</dcterms:modified>
  <dc:identifier>DAGzlwdcV68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0x0101008550436EFDB70E479AC6305D9FE4A597</vt:lpwstr>
  </property>
</Properties>
</file>